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754880"/>
            <a:ext cx="2743200" cy="2743200"/>
          </a:xfrm>
          <a:prstGeom prst="ellipse">
            <a:avLst/>
          </a:prstGeom>
          <a:solidFill>
            <a:srgbClr val="FF6B4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547" y="72054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RUVLM BENCHMAX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21792" y="33649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Русскоязычная Vision-Language модель на открытых данных deepvk (VK)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" y="4160520"/>
            <a:ext cx="457200" cy="41148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Максимизация метрик на GQA-ru и MMBench-ru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21792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Проектная работа  ·  Открытые данные VK  ·  Июль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VLM сильны на английском языке, но резко теряют качество на русском — модели, не адаптированные под RU, почти не решают русскоязычные бенчмарки.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модели, которые понимают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изображение + вопрос на русском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а не только английский.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5989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— Intel/llava-gemma-2b (не адаптирована под русский)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537960" y="1234440"/>
            <a:ext cx="50749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1B2A3C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5544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 — ТОЧНОСТЬ МОДЕЛИ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37960" y="2011680"/>
            <a:ext cx="25374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59.8</a:t>
            </a:r>
            <a:endParaRPr lang="en-US" sz="6600" dirty="0"/>
          </a:p>
        </p:txBody>
      </p:sp>
      <p:sp>
        <p:nvSpPr>
          <p:cNvPr id="11" name="Text 8"/>
          <p:cNvSpPr/>
          <p:nvPr/>
        </p:nvSpPr>
        <p:spPr>
          <a:xfrm>
            <a:off x="9075420" y="2011680"/>
            <a:ext cx="25374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</a:t>
            </a:r>
            <a:endParaRPr lang="en-US" sz="6600" dirty="0"/>
          </a:p>
        </p:txBody>
      </p:sp>
      <p:sp>
        <p:nvSpPr>
          <p:cNvPr id="12" name="Text 9"/>
          <p:cNvSpPr/>
          <p:nvPr/>
        </p:nvSpPr>
        <p:spPr>
          <a:xfrm>
            <a:off x="6537960" y="3200400"/>
            <a:ext cx="2537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075420" y="3200400"/>
            <a:ext cx="25374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075420" y="2057400"/>
            <a:ext cx="0" cy="1508760"/>
          </a:xfrm>
          <a:prstGeom prst="line">
            <a:avLst/>
          </a:prstGeom>
          <a:noFill/>
          <a:ln w="19050">
            <a:solidFill>
              <a:srgbClr val="DCEA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0" y="3749040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388620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метрики на 59.6 п.п. при переходе с английского на русский язык — типичная картина для моделей без русскоязычного дообучения.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Дообучить компактную VLM и получить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максимальные метрики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открытых русскоязычных бенчмарках.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25146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63500" dir="5400000">
              <a:srgbClr val="1B2A3C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8803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GQA-ru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ExactMatch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ответы на визуальные вопросы (short-answer VQA) — русскоязычная версия GQA от deepvk.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3640" y="25146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63500" dir="5400000">
              <a:srgbClr val="1B2A3C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288036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28803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MMBench-ru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629400" y="361188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ExactMatch / GPTEvalScore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629400" y="416052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Мультидисциплинарный бенчмарк визуального понимания — русскоязычная версия MMBench от deepvk.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22960" y="3246120"/>
            <a:ext cx="10545775" cy="0"/>
          </a:xfrm>
          <a:prstGeom prst="line">
            <a:avLst/>
          </a:prstGeom>
          <a:noFill/>
          <a:ln w="38100">
            <a:solidFill>
              <a:srgbClr val="DCEA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926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51760"/>
            <a:ext cx="0" cy="274320"/>
          </a:xfrm>
          <a:prstGeom prst="line">
            <a:avLst/>
          </a:prstGeom>
          <a:noFill/>
          <a:ln w="19050">
            <a:solidFill>
              <a:srgbClr val="DCEAF0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-160020" y="169164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архитектуру LLaVA / VLM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39364" y="2926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3139364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459404" y="3566160"/>
            <a:ext cx="0" cy="274320"/>
          </a:xfrm>
          <a:prstGeom prst="line">
            <a:avLst/>
          </a:prstGeom>
          <a:noFill/>
          <a:ln w="19050">
            <a:solidFill>
              <a:srgbClr val="DCEAF0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2476424" y="384048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открытые датасеты deepvk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775808" y="2926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775808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095848" y="2651760"/>
            <a:ext cx="0" cy="274320"/>
          </a:xfrm>
          <a:prstGeom prst="line">
            <a:avLst/>
          </a:prstGeom>
          <a:noFill/>
          <a:ln w="19050">
            <a:solidFill>
              <a:srgbClr val="DCEAF0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112868" y="169164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instruction tuning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12251" y="2926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251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732291" y="3566160"/>
            <a:ext cx="0" cy="274320"/>
          </a:xfrm>
          <a:prstGeom prst="line">
            <a:avLst/>
          </a:prstGeom>
          <a:noFill/>
          <a:ln w="19050">
            <a:solidFill>
              <a:srgbClr val="DCEAF0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7749311" y="384048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через lmms-eval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1048695" y="292608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3" name="Text 20"/>
          <p:cNvSpPr/>
          <p:nvPr/>
        </p:nvSpPr>
        <p:spPr>
          <a:xfrm>
            <a:off x="11048695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11368735" y="2651760"/>
            <a:ext cx="0" cy="274320"/>
          </a:xfrm>
          <a:prstGeom prst="line">
            <a:avLst/>
          </a:prstGeom>
          <a:noFill/>
          <a:ln w="19050">
            <a:solidFill>
              <a:srgbClr val="DCEAF0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10385755" y="1691640"/>
            <a:ext cx="196596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 baseline и оформление артефактов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 VK (deepvk)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7432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Датасет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Зачем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LLaVA-Instruct-ru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Диалоги и reasoning по изображению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GQA-ru (train)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Short-answer VQA для instruction tuning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GQA-ru (test) / MMBench-ru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Честная оценка (held-out, не используется в обучении)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77800" marR="177800" marT="101600" marB="101600" anchor="ctr">
                    <a:lnL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1B2A3C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68680" y="4709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Коллекция:  </a:t>
            </a:r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→ deepvk / Vision-Language Modeling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68680" y="519379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huggingface.co/collections/deepvk/vision-language-modeling-664dd7e4c257cc78e740f6bc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905610" cy="1051560"/>
          </a:xfrm>
          <a:prstGeom prst="roundRect">
            <a:avLst>
              <a:gd name="adj" fmla="val 8696"/>
            </a:avLst>
          </a:prstGeom>
          <a:solidFill>
            <a:srgbClr val="DCEAF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901952"/>
            <a:ext cx="1905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454250" y="155448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838298" y="1554480"/>
            <a:ext cx="190561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2838298" y="1755648"/>
            <a:ext cx="1905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38298" y="2121408"/>
            <a:ext cx="1905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(freeze)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43907" y="155448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127955" y="1554480"/>
            <a:ext cx="190561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5127955" y="1901952"/>
            <a:ext cx="1905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33565" y="155448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7417613" y="1554480"/>
            <a:ext cx="1905610" cy="1051560"/>
          </a:xfrm>
          <a:prstGeom prst="roundRect">
            <a:avLst>
              <a:gd name="adj" fmla="val 8696"/>
            </a:avLst>
          </a:prstGeom>
          <a:solidFill>
            <a:srgbClr val="FF6B4A"/>
          </a:solidFill>
          <a:ln/>
        </p:spPr>
      </p:sp>
      <p:sp>
        <p:nvSpPr>
          <p:cNvPr id="16" name="Text 13"/>
          <p:cNvSpPr/>
          <p:nvPr/>
        </p:nvSpPr>
        <p:spPr>
          <a:xfrm>
            <a:off x="7417613" y="1755648"/>
            <a:ext cx="1905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17613" y="2121408"/>
            <a:ext cx="19056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LoRA)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323222" y="1554480"/>
            <a:ext cx="38404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707270" y="1554480"/>
            <a:ext cx="1905610" cy="1051560"/>
          </a:xfrm>
          <a:prstGeom prst="roundRect">
            <a:avLst>
              <a:gd name="adj" fmla="val 8696"/>
            </a:avLst>
          </a:prstGeom>
          <a:solidFill>
            <a:srgbClr val="DCEAF0"/>
          </a:solidFill>
          <a:ln/>
        </p:spPr>
      </p:sp>
      <p:sp>
        <p:nvSpPr>
          <p:cNvPr id="20" name="Text 17"/>
          <p:cNvSpPr/>
          <p:nvPr/>
        </p:nvSpPr>
        <p:spPr>
          <a:xfrm>
            <a:off x="9707270" y="1901952"/>
            <a:ext cx="19056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КОНФИГУРАЦИЯ ОБУЧЕНИЯ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47472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3474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834640" y="3474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deepvk/llava-gemma-2b-lora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3959352"/>
            <a:ext cx="82296" cy="384048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</p:sp>
      <p:sp>
        <p:nvSpPr>
          <p:cNvPr id="26" name="Text 23"/>
          <p:cNvSpPr/>
          <p:nvPr/>
        </p:nvSpPr>
        <p:spPr>
          <a:xfrm>
            <a:off x="777240" y="39593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2834640" y="39593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32, fp16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443984"/>
            <a:ext cx="82296" cy="384048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</p:sp>
      <p:sp>
        <p:nvSpPr>
          <p:cNvPr id="29" name="Text 26"/>
          <p:cNvSpPr/>
          <p:nvPr/>
        </p:nvSpPr>
        <p:spPr>
          <a:xfrm>
            <a:off x="777240" y="44439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834640" y="4443984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эпохи · 624 шага (Colab T4)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928616"/>
            <a:ext cx="82296" cy="384048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" y="49286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834640" y="4928616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deepvk/GQA-ru · ~2500 примеров / эпоху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413248"/>
            <a:ext cx="82296" cy="384048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4132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Артефакт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2834640" y="541324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ruvlm-outputs · ~26 MB adapter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Полученный результат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0A254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764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trike="sngStrike" dirty="0">
                <a:solidFill>
                  <a:srgbClr val="DC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12.17 </a:t>
            </a:r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→  </a:t>
            </a:r>
            <a:pPr indent="0" marL="0">
              <a:buNone/>
            </a:pPr>
            <a:r>
              <a:rPr lang="en-US" sz="48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989320" y="1508760"/>
            <a:ext cx="56235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63500" dir="5400000">
              <a:srgbClr val="1B2A3C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176479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КАЧЕСТВЕННОЕ ДЕМО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корректно распознаёт и описывает объекты на русском — например, точно определяет дорожный знак «Стоп» на тестовом изображении.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ПРОГОН vs ФИНАЛЬНЫЙ ЗАПУСК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4114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26110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прогон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4617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Шагов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423160" y="4617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2423160" y="5120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023360" y="4617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023360" y="5120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63640" y="4114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875">
            <a:solidFill>
              <a:srgbClr val="FF6B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426110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запуск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37960" y="4617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537960" y="5120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Шагов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8160" y="4617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138160" y="5120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738360" y="46177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~1.26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9738360" y="51206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DCEAF0"/>
          </a:solidFill>
          <a:ln w="12700">
            <a:solidFill>
              <a:srgbClr val="1C7293"/>
            </a:solidFill>
            <a:prstDash val="dash"/>
          </a:ln>
        </p:spPr>
      </p:sp>
      <p:sp>
        <p:nvSpPr>
          <p:cNvPr id="29" name="Text 26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ШАГ:  </a:t>
            </a:r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числовая оценка на GQA-ru / MMBench-ru через lmms-eval  ·  ориентир baseline deepvk: 46.37 / 40.19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Жизнеспособность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применима модель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2A3C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76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07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178308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модерация контента по описанию изображения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2A3C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07692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107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32320" y="178308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Помощник для людей с нарушением зрения (описание сцен)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10896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2A3C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2960" y="343357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34335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310896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Образовательные VQA-приложения на русском языке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63640" y="310896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B2A3C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37960" y="3433572"/>
            <a:ext cx="402336" cy="402336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7"/>
          <p:cNvSpPr/>
          <p:nvPr/>
        </p:nvSpPr>
        <p:spPr>
          <a:xfrm>
            <a:off x="6537960" y="34335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32320" y="3108960"/>
            <a:ext cx="4251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мультимодального ассистента в экосистеме VK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0A2540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91032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8680" y="5303520"/>
            <a:ext cx="332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данные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373880" y="5303520"/>
            <a:ext cx="332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Воспроизводимый пайплайн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879080" y="5303520"/>
            <a:ext cx="332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Компактный размер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565282"/>
            <a:ext cx="442204" cy="4422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C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92938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08760" y="1691640"/>
            <a:ext cx="9784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Спроектирован и реализован пайплайн обучения/оценки русскоязычной VLM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C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02666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026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508760" y="2788920"/>
            <a:ext cx="9784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Использованы открытые данные deepvk (VK) на каждом этапе — от instruction tuning до оценки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88620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C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960" y="41239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508760" y="3886200"/>
            <a:ext cx="9784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измеряется метриками бенчмарков, а не только качественным демо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98348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C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" y="5221224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508760" y="4983480"/>
            <a:ext cx="9784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проекта: код, model card, подробное описание решения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9" y="710489"/>
            <a:ext cx="499262" cy="4992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6400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Ссылки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82296" cy="777240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9659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данных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7840" y="196596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huggingface.co/collections/deepvk/vision-language-modeling-664dd7e4c257cc78e740f6bc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2926080"/>
            <a:ext cx="82296" cy="777240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9260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VLM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577840" y="292608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huggingface.co/blog/vlms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22960" y="3886200"/>
            <a:ext cx="82296" cy="777240"/>
          </a:xfrm>
          <a:prstGeom prst="roundRect">
            <a:avLst>
              <a:gd name="adj" fmla="val 22222"/>
            </a:avLst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3886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577840" y="38862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GitHub / Облако Mail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CEA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2026-07-19T09:19:30Z</dcterms:created>
  <dcterms:modified xsi:type="dcterms:W3CDTF">2026-07-19T09:19:30Z</dcterms:modified>
</cp:coreProperties>
</file>